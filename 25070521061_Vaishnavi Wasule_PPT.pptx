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5259629" y="1104595"/>
            <a:ext cx="903427" cy="998525"/>
          </a:xfrm>
          <a:prstGeom prst="line">
            <a:avLst/>
          </a:prstGeom>
          <a:noFill/>
          <a:ln w="13716">
            <a:solidFill>
              <a:srgbClr val="AAB2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9629" y="2103120"/>
            <a:ext cx="903427" cy="998525"/>
          </a:xfrm>
          <a:prstGeom prst="line">
            <a:avLst/>
          </a:prstGeom>
          <a:noFill/>
          <a:ln w="40005">
            <a:solidFill>
              <a:srgbClr val="0F9D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63056" y="1104595"/>
            <a:ext cx="0" cy="1997050"/>
          </a:xfrm>
          <a:prstGeom prst="line">
            <a:avLst/>
          </a:prstGeom>
          <a:noFill/>
          <a:ln w="40005">
            <a:solidFill>
              <a:srgbClr val="0F9D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3056" y="1104595"/>
            <a:ext cx="1320394" cy="0"/>
          </a:xfrm>
          <a:prstGeom prst="line">
            <a:avLst/>
          </a:prstGeom>
          <a:noFill/>
          <a:ln w="40005">
            <a:solidFill>
              <a:srgbClr val="0F9D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163056" y="1104595"/>
            <a:ext cx="1320394" cy="1997050"/>
          </a:xfrm>
          <a:prstGeom prst="line">
            <a:avLst/>
          </a:prstGeom>
          <a:noFill/>
          <a:ln w="13716">
            <a:solidFill>
              <a:srgbClr val="AAB2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63056" y="3101645"/>
            <a:ext cx="1320394" cy="0"/>
          </a:xfrm>
          <a:prstGeom prst="line">
            <a:avLst/>
          </a:prstGeom>
          <a:noFill/>
          <a:ln w="13716">
            <a:solidFill>
              <a:srgbClr val="AAB2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83450" y="1104595"/>
            <a:ext cx="0" cy="1997050"/>
          </a:xfrm>
          <a:prstGeom prst="line">
            <a:avLst/>
          </a:prstGeom>
          <a:noFill/>
          <a:ln w="40005">
            <a:solidFill>
              <a:srgbClr val="0F9D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3450" y="1104595"/>
            <a:ext cx="972922" cy="998525"/>
          </a:xfrm>
          <a:prstGeom prst="line">
            <a:avLst/>
          </a:prstGeom>
          <a:noFill/>
          <a:ln w="13716">
            <a:solidFill>
              <a:srgbClr val="AAB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483450" y="2103120"/>
            <a:ext cx="972922" cy="998525"/>
          </a:xfrm>
          <a:prstGeom prst="line">
            <a:avLst/>
          </a:prstGeom>
          <a:noFill/>
          <a:ln w="40005">
            <a:solidFill>
              <a:srgbClr val="0F9D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5037" y="19385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5037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98464" y="94000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98464" y="9400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293705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98464" y="293705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8858" y="94000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8858" y="9400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8858" y="293705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8858" y="293705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91779" y="19385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1779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</a:t>
            </a:r>
            <a:endParaRPr lang="en-US" sz="4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1828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using the Greedy Approach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3840480" cy="27432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 Wasule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25070521061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Spanning Tree &amp; MST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2004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 = (V, E): vertices connected by weighted edges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tree: a subgraph that connects all V vertices with exactly V – 1 edges and no cycle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(MST): the spanning tree with the smallest total edge weight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connected, undirected, weighted graphs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6400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vs. its Spanning Tree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flipV="1">
            <a:off x="5160874" y="1965960"/>
            <a:ext cx="855878" cy="960120"/>
          </a:xfrm>
          <a:prstGeom prst="line">
            <a:avLst/>
          </a:prstGeom>
          <a:noFill/>
          <a:ln w="12954">
            <a:solidFill>
              <a:srgbClr val="AAB2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0874" y="2926080"/>
            <a:ext cx="855878" cy="960120"/>
          </a:xfrm>
          <a:prstGeom prst="line">
            <a:avLst/>
          </a:prstGeom>
          <a:noFill/>
          <a:ln w="37783">
            <a:solidFill>
              <a:srgbClr val="0F9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16752" y="1965960"/>
            <a:ext cx="0" cy="1920240"/>
          </a:xfrm>
          <a:prstGeom prst="line">
            <a:avLst/>
          </a:prstGeom>
          <a:noFill/>
          <a:ln w="37783">
            <a:solidFill>
              <a:srgbClr val="0F9D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6752" y="1965960"/>
            <a:ext cx="1250899" cy="0"/>
          </a:xfrm>
          <a:prstGeom prst="line">
            <a:avLst/>
          </a:prstGeom>
          <a:noFill/>
          <a:ln w="37783">
            <a:solidFill>
              <a:srgbClr val="0F9D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16752" y="1965960"/>
            <a:ext cx="1250899" cy="1920240"/>
          </a:xfrm>
          <a:prstGeom prst="line">
            <a:avLst/>
          </a:prstGeom>
          <a:noFill/>
          <a:ln w="12954">
            <a:solidFill>
              <a:srgbClr val="AAB2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3886200"/>
            <a:ext cx="1250899" cy="0"/>
          </a:xfrm>
          <a:prstGeom prst="line">
            <a:avLst/>
          </a:prstGeom>
          <a:noFill/>
          <a:ln w="12954">
            <a:solidFill>
              <a:srgbClr val="AAB2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7651" y="1965960"/>
            <a:ext cx="0" cy="1920240"/>
          </a:xfrm>
          <a:prstGeom prst="line">
            <a:avLst/>
          </a:prstGeom>
          <a:noFill/>
          <a:ln w="37783">
            <a:solidFill>
              <a:srgbClr val="0F9D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7651" y="1965960"/>
            <a:ext cx="921715" cy="960120"/>
          </a:xfrm>
          <a:prstGeom prst="line">
            <a:avLst/>
          </a:prstGeom>
          <a:noFill/>
          <a:ln w="12954">
            <a:solidFill>
              <a:srgbClr val="AAB2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267651" y="2926080"/>
            <a:ext cx="921715" cy="960120"/>
          </a:xfrm>
          <a:prstGeom prst="line">
            <a:avLst/>
          </a:prstGeom>
          <a:noFill/>
          <a:ln w="37783">
            <a:solidFill>
              <a:srgbClr val="0F9D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9999" y="2337206"/>
            <a:ext cx="217627" cy="2176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79999" y="233720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79999" y="3297326"/>
            <a:ext cx="217627" cy="217627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79999" y="329732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07938" y="2817266"/>
            <a:ext cx="217627" cy="217627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07938" y="281726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533388" y="1857146"/>
            <a:ext cx="217627" cy="217627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3388" y="185714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33388" y="2817266"/>
            <a:ext cx="217627" cy="2176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3388" y="281726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33388" y="3777386"/>
            <a:ext cx="217627" cy="2176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3388" y="377738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58838" y="2817266"/>
            <a:ext cx="217627" cy="217627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8838" y="281726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19695" y="2337206"/>
            <a:ext cx="217627" cy="2176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19695" y="233720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9695" y="3297326"/>
            <a:ext cx="217627" cy="217627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19695" y="3297326"/>
            <a:ext cx="217627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05426" y="2770632"/>
            <a:ext cx="310896" cy="31089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05426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61304" y="1810512"/>
            <a:ext cx="310896" cy="31089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61304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61304" y="3730752"/>
            <a:ext cx="310896" cy="31089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61304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12203" y="1810512"/>
            <a:ext cx="310896" cy="31089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12203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12203" y="3730752"/>
            <a:ext cx="310896" cy="31089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12203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33918" y="2770632"/>
            <a:ext cx="310896" cy="31089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33918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8463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edges form a spanning tree (5 edges for 6 vertices)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Prim's Algorithm?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that builds the MST one vertex at a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any arbitrary vertex and grows a single tree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 it adds the cheapest edge that connects a tree vertex to a non-tree vertex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Vojtěch Jarník (1930), later rediscovered by Robert Prim (1957) and Dijkstra (1959)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all V vertices are in the tree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0" y="114300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234440"/>
            <a:ext cx="64008" cy="32004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216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Tree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1645920"/>
            <a:ext cx="1554480" cy="1737360"/>
          </a:xfrm>
          <a:prstGeom prst="ellipse">
            <a:avLst/>
          </a:prstGeom>
          <a:solidFill>
            <a:srgbClr val="FDE9C2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645920"/>
            <a:ext cx="1280160" cy="1737360"/>
          </a:xfrm>
          <a:prstGeom prst="ellipse">
            <a:avLst/>
          </a:prstGeom>
          <a:solidFill>
            <a:srgbClr val="E4E9F2"/>
          </a:solidFill>
          <a:ln w="25400">
            <a:solidFill>
              <a:srgbClr val="5B65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– 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514600"/>
            <a:ext cx="594360" cy="0"/>
          </a:xfrm>
          <a:prstGeom prst="line">
            <a:avLst/>
          </a:prstGeom>
          <a:noFill/>
          <a:ln w="50800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57784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min-weight edge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the cut (S, V – 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89888"/>
            <a:ext cx="512064" cy="51206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234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starting vertex; mark it as visited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87168"/>
            <a:ext cx="512064" cy="51206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31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key[start] = 0 and key[v] = ∞ for all others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584448"/>
            <a:ext cx="512064" cy="51206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29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unvisited vertex u with the smallest key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389888"/>
            <a:ext cx="512064" cy="51206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234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 to the MST (with the edge that gave this key)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487168"/>
            <a:ext cx="512064" cy="51206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2331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neighbour v of u: if w(u,v) &lt; key[v], update key[v] and parent[v] = 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584448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3429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3–5 until all vertices are in the MST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choice: always take the cheapest edge crossing the cut.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Graph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3832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91210" y="1728216"/>
            <a:ext cx="1093622" cy="1152144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1210" y="2880360"/>
            <a:ext cx="1093622" cy="1152144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728216"/>
            <a:ext cx="0" cy="2304288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728216"/>
            <a:ext cx="1598371" cy="0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84832" y="1728216"/>
            <a:ext cx="1598371" cy="2304288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4032504"/>
            <a:ext cx="1598371" cy="0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3203" y="1728216"/>
            <a:ext cx="0" cy="2304288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3203" y="1728216"/>
            <a:ext cx="1177747" cy="1152144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683203" y="2880360"/>
            <a:ext cx="1177747" cy="1152144"/>
          </a:xfrm>
          <a:prstGeom prst="line">
            <a:avLst/>
          </a:prstGeom>
          <a:noFill/>
          <a:ln w="16002">
            <a:solidFill>
              <a:srgbClr val="AAB2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3604" y="2169871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03604" y="2169871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03604" y="3322015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03604" y="3322015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0415" y="2745943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50415" y="2745943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9601" y="1593799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9601" y="1593799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9601" y="2745943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9601" y="2745943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9601" y="3898087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9601" y="3898087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48786" y="2745943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48786" y="2745943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37660" y="2169871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37660" y="2169871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37660" y="3322015"/>
            <a:ext cx="268834" cy="2688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37660" y="3322015"/>
            <a:ext cx="268834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9186" y="2688336"/>
            <a:ext cx="384048" cy="38404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9186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892808" y="1536192"/>
            <a:ext cx="384048" cy="38404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928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892808" y="3840480"/>
            <a:ext cx="384048" cy="38404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89280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91179" y="1536192"/>
            <a:ext cx="384048" cy="38404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491179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491179" y="3840480"/>
            <a:ext cx="384048" cy="38404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9117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68926" y="2688336"/>
            <a:ext cx="384048" cy="38404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68926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weighted graph: 6 vertices, 9 edges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88720"/>
          <a:ext cx="3017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–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 46"/>
          <p:cNvSpPr txBox="1"/>
          <p:nvPr/>
        </p:nvSpPr>
        <p:spPr>
          <a:xfrm>
            <a:off x="566928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vertex: 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 (start = A)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visit 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flipV="1">
            <a:off x="726034" y="1730045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034" y="2171700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4732" y="1730045"/>
            <a:ext cx="0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4732" y="173004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284732" y="1730045"/>
            <a:ext cx="816559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4732" y="261335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1291" y="1730045"/>
            <a:ext cx="0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1291" y="1730045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01291" y="2171700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375" y="18868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375" y="18868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41375" y="232852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375" y="2328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220724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20724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29004" y="166603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29004" y="166603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29004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29004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29004" y="254934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29004" y="254934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037283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37283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338121" y="18868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38121" y="18868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338121" y="232852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38121" y="2328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34594" y="208026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594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193292" y="163860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193292" y="1638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193292" y="252191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93292" y="25219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009851" y="163860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009851" y="1638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009851" y="252191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009851" y="25219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611526" y="2080260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611526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3200400" y="10515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29184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add A–C (2)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 flipV="1">
            <a:off x="3560674" y="1730045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60674" y="2171700"/>
            <a:ext cx="558698" cy="441655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9372" y="1730045"/>
            <a:ext cx="0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9372" y="173004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119372" y="1730045"/>
            <a:ext cx="816559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9372" y="261335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5931" y="1730045"/>
            <a:ext cx="0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5931" y="1730045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935931" y="2171700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76015" y="18868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776015" y="18868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776015" y="2328520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76015" y="2328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055364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055364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463644" y="166603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463644" y="166603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463644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463644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463644" y="254934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463644" y="254934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871923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871923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172761" y="18868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172761" y="18868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172761" y="232852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172761" y="2328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469234" y="208026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69234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4027932" y="163860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027932" y="1638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4027932" y="252191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027932" y="25219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4844491" y="163860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844491" y="1638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4844491" y="252191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844491" y="25219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446166" y="2080260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446166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035040" y="10515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126480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add C–B (1)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 flipV="1">
            <a:off x="6395314" y="1730045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95314" y="2171700"/>
            <a:ext cx="558698" cy="441655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54012" y="1730045"/>
            <a:ext cx="0" cy="88331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54012" y="173004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6954012" y="1730045"/>
            <a:ext cx="816559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954012" y="261335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70571" y="1730045"/>
            <a:ext cx="0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0571" y="1730045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7770571" y="2171700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10655" y="18868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610655" y="18868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610655" y="2328520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6610655" y="2328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6890004" y="2107692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890004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7298284" y="166603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298284" y="166603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298284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298284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7298284" y="254934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7298284" y="254934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706563" y="210769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7706563" y="210769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8007401" y="188686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007401" y="18868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8007401" y="232852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007401" y="232852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6303874" y="208026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303874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6862572" y="163860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862572" y="1638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6862572" y="252191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6862572" y="25219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7679131" y="163860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679131" y="16386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7679131" y="252191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679131" y="25219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8280806" y="2080260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8280806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365760" y="292608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5720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B–D (5)</a:t>
            </a:r>
            <a:endParaRPr lang="en-US" sz="1150" dirty="0"/>
          </a:p>
        </p:txBody>
      </p:sp>
      <p:sp>
        <p:nvSpPr>
          <p:cNvPr id="131" name="Shape 129"/>
          <p:cNvSpPr/>
          <p:nvPr/>
        </p:nvSpPr>
        <p:spPr>
          <a:xfrm flipV="1">
            <a:off x="726034" y="3604565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26034" y="4046220"/>
            <a:ext cx="558698" cy="441655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84732" y="3604565"/>
            <a:ext cx="0" cy="88331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284732" y="3604565"/>
            <a:ext cx="816559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284732" y="3604565"/>
            <a:ext cx="816559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284732" y="448787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01291" y="3604565"/>
            <a:ext cx="0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101291" y="3604565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2101291" y="4046220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41375" y="376138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941375" y="37613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941375" y="4203040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941375" y="42030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1220724" y="3982212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220724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1629004" y="3540557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629004" y="354055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1629004" y="39822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629004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1629004" y="442386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1629004" y="442386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2037283" y="39822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2037283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2338121" y="376138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338121" y="37613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2338121" y="420304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2338121" y="42030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34594" y="395478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634594" y="3954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1193292" y="351312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193292" y="35131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" dirty="0"/>
          </a:p>
        </p:txBody>
      </p:sp>
      <p:sp>
        <p:nvSpPr>
          <p:cNvPr id="162" name="Shape 160"/>
          <p:cNvSpPr/>
          <p:nvPr/>
        </p:nvSpPr>
        <p:spPr>
          <a:xfrm>
            <a:off x="1193292" y="439643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1193292" y="4396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164" name="Shape 162"/>
          <p:cNvSpPr/>
          <p:nvPr/>
        </p:nvSpPr>
        <p:spPr>
          <a:xfrm>
            <a:off x="2009851" y="351312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2009851" y="35131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" dirty="0"/>
          </a:p>
        </p:txBody>
      </p:sp>
      <p:sp>
        <p:nvSpPr>
          <p:cNvPr id="166" name="Shape 164"/>
          <p:cNvSpPr/>
          <p:nvPr/>
        </p:nvSpPr>
        <p:spPr>
          <a:xfrm>
            <a:off x="2009851" y="4396435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2009851" y="4396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600" dirty="0"/>
          </a:p>
        </p:txBody>
      </p:sp>
      <p:sp>
        <p:nvSpPr>
          <p:cNvPr id="168" name="Shape 166"/>
          <p:cNvSpPr/>
          <p:nvPr/>
        </p:nvSpPr>
        <p:spPr>
          <a:xfrm>
            <a:off x="2611526" y="3954780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2611526" y="3954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3200400" y="292608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329184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 D–E (2)</a:t>
            </a:r>
            <a:endParaRPr lang="en-US" sz="1150" dirty="0"/>
          </a:p>
        </p:txBody>
      </p:sp>
      <p:sp>
        <p:nvSpPr>
          <p:cNvPr id="172" name="Shape 170"/>
          <p:cNvSpPr/>
          <p:nvPr/>
        </p:nvSpPr>
        <p:spPr>
          <a:xfrm flipV="1">
            <a:off x="3560674" y="3604565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560674" y="4046220"/>
            <a:ext cx="558698" cy="441655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119372" y="3604565"/>
            <a:ext cx="0" cy="88331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119372" y="3604565"/>
            <a:ext cx="816559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4119372" y="3604565"/>
            <a:ext cx="816559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119372" y="448787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935931" y="3604565"/>
            <a:ext cx="0" cy="88331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935931" y="3604565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4935931" y="4046220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776015" y="376138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3776015" y="37613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3776015" y="4203040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3776015" y="42030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4055364" y="3982212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4055364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4463644" y="3540557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4463644" y="354055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4463644" y="39822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4463644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91" name="Shape 189"/>
          <p:cNvSpPr/>
          <p:nvPr/>
        </p:nvSpPr>
        <p:spPr>
          <a:xfrm>
            <a:off x="4463644" y="442386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4463644" y="442386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93" name="Shape 191"/>
          <p:cNvSpPr/>
          <p:nvPr/>
        </p:nvSpPr>
        <p:spPr>
          <a:xfrm>
            <a:off x="4871923" y="3982212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4871923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5" name="Shape 193"/>
          <p:cNvSpPr/>
          <p:nvPr/>
        </p:nvSpPr>
        <p:spPr>
          <a:xfrm>
            <a:off x="5172761" y="376138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5172761" y="37613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5172761" y="420304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5172761" y="42030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3469234" y="395478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3469234" y="3954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" dirty="0"/>
          </a:p>
        </p:txBody>
      </p:sp>
      <p:sp>
        <p:nvSpPr>
          <p:cNvPr id="201" name="Shape 199"/>
          <p:cNvSpPr/>
          <p:nvPr/>
        </p:nvSpPr>
        <p:spPr>
          <a:xfrm>
            <a:off x="4027932" y="351312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4027932" y="35131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" dirty="0"/>
          </a:p>
        </p:txBody>
      </p:sp>
      <p:sp>
        <p:nvSpPr>
          <p:cNvPr id="203" name="Shape 201"/>
          <p:cNvSpPr/>
          <p:nvPr/>
        </p:nvSpPr>
        <p:spPr>
          <a:xfrm>
            <a:off x="4027932" y="439643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4027932" y="4396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205" name="Shape 203"/>
          <p:cNvSpPr/>
          <p:nvPr/>
        </p:nvSpPr>
        <p:spPr>
          <a:xfrm>
            <a:off x="4844491" y="351312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4844491" y="35131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" dirty="0"/>
          </a:p>
        </p:txBody>
      </p:sp>
      <p:sp>
        <p:nvSpPr>
          <p:cNvPr id="207" name="Shape 205"/>
          <p:cNvSpPr/>
          <p:nvPr/>
        </p:nvSpPr>
        <p:spPr>
          <a:xfrm>
            <a:off x="4844491" y="439643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4844491" y="4396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600" dirty="0"/>
          </a:p>
        </p:txBody>
      </p:sp>
      <p:sp>
        <p:nvSpPr>
          <p:cNvPr id="209" name="Shape 207"/>
          <p:cNvSpPr/>
          <p:nvPr/>
        </p:nvSpPr>
        <p:spPr>
          <a:xfrm>
            <a:off x="5446166" y="3954780"/>
            <a:ext cx="182880" cy="1828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5446166" y="3954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  <p:sp>
        <p:nvSpPr>
          <p:cNvPr id="211" name="Shape 209"/>
          <p:cNvSpPr/>
          <p:nvPr/>
        </p:nvSpPr>
        <p:spPr>
          <a:xfrm>
            <a:off x="6035040" y="292608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612648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add E–F (3)  ✔ done</a:t>
            </a:r>
            <a:endParaRPr lang="en-US" sz="1150" dirty="0"/>
          </a:p>
        </p:txBody>
      </p:sp>
      <p:sp>
        <p:nvSpPr>
          <p:cNvPr id="213" name="Shape 211"/>
          <p:cNvSpPr/>
          <p:nvPr/>
        </p:nvSpPr>
        <p:spPr>
          <a:xfrm flipV="1">
            <a:off x="6395314" y="3604565"/>
            <a:ext cx="558698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395314" y="4046220"/>
            <a:ext cx="558698" cy="441655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954012" y="3604565"/>
            <a:ext cx="0" cy="88331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954012" y="3604565"/>
            <a:ext cx="816559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6954012" y="3604565"/>
            <a:ext cx="816559" cy="88331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954012" y="4487875"/>
            <a:ext cx="816559" cy="0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770571" y="3604565"/>
            <a:ext cx="0" cy="88331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770571" y="3604565"/>
            <a:ext cx="601675" cy="441655"/>
          </a:xfrm>
          <a:prstGeom prst="line">
            <a:avLst/>
          </a:prstGeom>
          <a:noFill/>
          <a:ln w="7620">
            <a:solidFill>
              <a:srgbClr val="AAB2C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flipV="1">
            <a:off x="7770571" y="4046220"/>
            <a:ext cx="601675" cy="441655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10655" y="376138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6610655" y="37613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24" name="Shape 222"/>
          <p:cNvSpPr/>
          <p:nvPr/>
        </p:nvSpPr>
        <p:spPr>
          <a:xfrm>
            <a:off x="6610655" y="4203040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6610655" y="42030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26" name="Shape 224"/>
          <p:cNvSpPr/>
          <p:nvPr/>
        </p:nvSpPr>
        <p:spPr>
          <a:xfrm>
            <a:off x="6890004" y="3982212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6890004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28" name="Shape 226"/>
          <p:cNvSpPr/>
          <p:nvPr/>
        </p:nvSpPr>
        <p:spPr>
          <a:xfrm>
            <a:off x="7298284" y="3540557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7298284" y="354055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30" name="Shape 228"/>
          <p:cNvSpPr/>
          <p:nvPr/>
        </p:nvSpPr>
        <p:spPr>
          <a:xfrm>
            <a:off x="7298284" y="398221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7298284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232" name="Shape 230"/>
          <p:cNvSpPr/>
          <p:nvPr/>
        </p:nvSpPr>
        <p:spPr>
          <a:xfrm>
            <a:off x="7298284" y="4423867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7298284" y="442386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7706563" y="3982212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7706563" y="398221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36" name="Shape 234"/>
          <p:cNvSpPr/>
          <p:nvPr/>
        </p:nvSpPr>
        <p:spPr>
          <a:xfrm>
            <a:off x="8007401" y="3761384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B2C0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8007401" y="376138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38" name="Shape 236"/>
          <p:cNvSpPr/>
          <p:nvPr/>
        </p:nvSpPr>
        <p:spPr>
          <a:xfrm>
            <a:off x="8007401" y="4203040"/>
            <a:ext cx="128016" cy="128016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8007401" y="420304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40" name="Shape 238"/>
          <p:cNvSpPr/>
          <p:nvPr/>
        </p:nvSpPr>
        <p:spPr>
          <a:xfrm>
            <a:off x="6303874" y="395478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6303874" y="3954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" dirty="0"/>
          </a:p>
        </p:txBody>
      </p:sp>
      <p:sp>
        <p:nvSpPr>
          <p:cNvPr id="242" name="Shape 240"/>
          <p:cNvSpPr/>
          <p:nvPr/>
        </p:nvSpPr>
        <p:spPr>
          <a:xfrm>
            <a:off x="6862572" y="351312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6862572" y="35131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" dirty="0"/>
          </a:p>
        </p:txBody>
      </p:sp>
      <p:sp>
        <p:nvSpPr>
          <p:cNvPr id="244" name="Shape 242"/>
          <p:cNvSpPr/>
          <p:nvPr/>
        </p:nvSpPr>
        <p:spPr>
          <a:xfrm>
            <a:off x="6862572" y="439643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5" name="Text 243"/>
          <p:cNvSpPr txBox="1"/>
          <p:nvPr/>
        </p:nvSpPr>
        <p:spPr>
          <a:xfrm>
            <a:off x="6862572" y="4396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" dirty="0"/>
          </a:p>
        </p:txBody>
      </p:sp>
      <p:sp>
        <p:nvSpPr>
          <p:cNvPr id="246" name="Shape 244"/>
          <p:cNvSpPr/>
          <p:nvPr/>
        </p:nvSpPr>
        <p:spPr>
          <a:xfrm>
            <a:off x="7679131" y="351312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7679131" y="35131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00" dirty="0"/>
          </a:p>
        </p:txBody>
      </p:sp>
      <p:sp>
        <p:nvSpPr>
          <p:cNvPr id="248" name="Shape 246"/>
          <p:cNvSpPr/>
          <p:nvPr/>
        </p:nvSpPr>
        <p:spPr>
          <a:xfrm>
            <a:off x="7679131" y="4396435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9" name="Text 247"/>
          <p:cNvSpPr txBox="1"/>
          <p:nvPr/>
        </p:nvSpPr>
        <p:spPr>
          <a:xfrm>
            <a:off x="7679131" y="43964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600" dirty="0"/>
          </a:p>
        </p:txBody>
      </p:sp>
      <p:sp>
        <p:nvSpPr>
          <p:cNvPr id="250" name="Shape 248"/>
          <p:cNvSpPr/>
          <p:nvPr/>
        </p:nvSpPr>
        <p:spPr>
          <a:xfrm>
            <a:off x="8280806" y="395478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1" name="Text 249"/>
          <p:cNvSpPr txBox="1"/>
          <p:nvPr/>
        </p:nvSpPr>
        <p:spPr>
          <a:xfrm>
            <a:off x="8280806" y="3954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PRIM(G, w, 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vertex u in V: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key[u] = ∞ ;  parent[u] = NIL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key[r]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= MIN-PRIORITY-QUEUE(V)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Q is not empty: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 = EXTRACT-MIN(Q)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each v in Adj[u]: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v in Q and w(u,v) &lt; key[v]: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parent[v] = 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key[v] = w(u,v)   // DECREASE-KEY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parent[]  // edges (v, parent[v]) form MST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114300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1234440"/>
            <a:ext cx="64008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0020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key[v] = cheapest edge weight linking v to the current tree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parent[v] stores that edge's other 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gives the next vertex quickly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final keys gives MST weight = 13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matrix +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 + binary 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 + Fibonacci 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+ V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291840"/>
            <a:ext cx="64008" cy="13258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extra for key[], parent[] and the queue (O(V + E) with the adjacency list).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32004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329184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O(E log V)?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EXTRACT-MINs and up to E DECREASE-KEYs, each costing O(log V) in a binary heap.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Prim vs. Kruskal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33832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design: LAN, telephone and cable layouts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grid and pipeline planning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and railway network construction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 and image segmentation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for Travelling Salesman Problem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vertex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+ Union-Find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663440" y="4114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both give the same MST weight (13 in our example).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Algorithm  |  Design and Analysis of Algorithms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 Wasule  •  PRN: 25070521061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Claude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</dc:title>
  <dc:subject>PptxGenJS Presentation</dc:subject>
  <dc:creator>Vaishnavi Wasule</dc:creator>
  <cp:lastModifiedBy>Vaishnavi Wasule</cp:lastModifiedBy>
  <cp:revision>1</cp:revision>
  <dcterms:created xsi:type="dcterms:W3CDTF">2026-10-09T13:14:08Z</dcterms:created>
  <dcterms:modified xsi:type="dcterms:W3CDTF">2026-10-09T13:14:08Z</dcterms:modified>
</cp:coreProperties>
</file>